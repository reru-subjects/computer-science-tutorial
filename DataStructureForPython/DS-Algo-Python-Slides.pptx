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09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เปิดคาบด้วยคำถาม: ถ้าคืนนี้มีลูกค้า 40 คนมายืนรอพร้อมกันหน้าเรือยายนวล นักศึกษาจะจัดการอย่างไร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มินิเกมในคาบ: ให้คู่หนึ่งเขียนขั้นตอนทำก๋วยเตี๋ยว แล้วอีกคนทำตามแบบหุ่นยนต์ตามตัวอักษรเป๊ะ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ย้ำเส้นตายการส่งงานภายในคาบ และแจ้งว่าข้อสอบปลายภาคมีส่วนเขียนรหัสเทียมด้วยลายมือ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2A3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10332720" y="4480560"/>
            <a:ext cx="3108960" cy="3108960"/>
          </a:xfrm>
          <a:prstGeom prst="ellipse">
            <a:avLst/>
          </a:prstGeom>
          <a:solidFill>
            <a:srgbClr val="2A1B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บทที่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 และอัลกอริทึม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สำหรับผู้เริ่มต้น สู่การเขียนโปรแกรมภาษาไพธอน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9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Algorithms: A Gateway to Python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คณะเทคโนโลยีสารสนเทศ มหาวิทยาลัยราชภัฏร้อยเอ็ด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อาจารย์ ดร.เขมวิทย์ จิตตะยโศธร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จบคาบนี้แล้วทำอะไรได้บ้าง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วัตถุประสงค์การเรียนรู้ 6 ข้อ ไล่ตามระดับ Bloom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04672" y="2020824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04672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 5 ชนิดในไพธอน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6519672" y="2020824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6519672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Linear Search ต่างจาก Binary Search อย่างไร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804672" y="3502152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80467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55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7856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โปรแกรมด้วย list และ dict ให้รันผ่าน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63640" y="3172968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6519672" y="3502152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6519672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355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วิเคราะห์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7856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ประสิทธิภาพด้วยสัญกรณ์ Big-O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804672" y="49834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804672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ประเมิน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2669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โค้ดที่ AI เขียนให้ และจับจุดผิด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6519672" y="49834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 txBox="1"/>
          <p:nvPr/>
        </p:nvSpPr>
        <p:spPr>
          <a:xfrm>
            <a:off x="6519672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2669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ระบบจัดคิวคำสั่งซื้อของยายนวล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สมการที่ใช้ได้มา 50 ปี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Niklaus Wirth (1976) · Algorithms + Data Structures = Programs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อัลกอริทึม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ลำดับขั้นตอนการแก้ปัญหา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สูตรทำก๋วยเตี๋ยว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8463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โครงสร้างข้อมูล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วิธีจัดเก็บข้อมูล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ภาชนะที่เลือกใส่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03920" y="196596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73252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โปรแกรม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8346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สิ่งที่ทำงานได้จริง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ร้านที่เปิดขายได้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ขาดอย่างใดอย่างหนึ่ง โปรแกรมจะช้า ผิดพลาด หรือแก้ต่อไม่ได้  ภาษาไพธอนเป็นแค่ภาษาที่ใช้สื่อสารอัลกอริทึมให้เครื่องเข้าใจ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คืนวันศุกร์ที่เรือของยายนวล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ตลาดน้ำไซเบอร์พังก์ 2099 · ต่อจากใบงาน Mind Map ในบทที่แล้ว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ลูกค้ายืนรอพร้อมกัน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70916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เมนูที่ต้องจำราคา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845820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กติกาเดียวที่ยายนวลใช้: ใครมาก่อนได้ก่อน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10515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🍜 ปัญหานี้ไม่ใช่เรื่องการทำก๋วยเตี๋ยว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แต่เป็นเรื่อง “จะเก็บข้อมูลไว้ที่ไหน” และ “จะทำงานตามลำดับใด” ซึ่งก็คือโครงสร้างข้อมูลกับอัลกอริทึมพอดี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อัลกอริทึมที่ใช้ได้จริงต้องมี 5 อย่าง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ตามนิยามของ Donald E. Knuth · ลองวัดสูตรก๋วยเตี๋ยวของยายนวลดู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98448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984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จำกัด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ต้องจบ ไม่วนไม่รู้จบ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16352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ชัดเจน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ตีความได้แบบเดียว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64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833872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583387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มีข้อมูลเข้า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รู้ว่าลูกค้าสั่งอะไร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51776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101584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810158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มีข้อมูลออก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ได้ก๋วยเตี๋ยวจริง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19488" y="178308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10369296" y="20116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103692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ทำได้จริง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1546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ไม่ใช่ให้เดาใจลูกค้า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 txBox="1"/>
          <p:nvPr/>
        </p:nvSpPr>
        <p:spPr>
          <a:xfrm>
            <a:off x="868680" y="4553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“ใส่น้ำปลาพอประมาณ”  →  ผิดข้อชัดเจน เพราะแต่ละคนตีความไม่เหมือนกัน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“ใส่น้ำปลา 1 ช้อนชา”  →  เครื่องจักรและมนุษย์ทำตามแล้วได้ผลเหมือนกันทุกครั้ง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เขียนด้วยมือก่อน แล้วค่อยแปลงเป็นโค้ด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ไพธอนถูกเลือกเป็นภาษาแรกเพราะหน้าตาใกล้รหัสเทียมที่สุด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📝 รหัสเทียม (เขียนบนกระดาษ)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กำหนด total = 0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สำหรับ order แต่ละตัวใน order_list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ถ้า order อยู่ในเมนู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ราคาของ order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แสดงค่า total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🐍 ไพธอน (พิมพ์เองทุกบรรทัด)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orders: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in menu: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menu[name]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ย่อหน้า 4 ช่องว่างคือไวยากรณ์ ไม่ใช่ความสวยงาม ผิดหนึ่งช่องโปรแกรมพัง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ภาชนะ 5 แบบในครัวของไพธอน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เลือกผิดโปรแกรมไม่พัง แต่ช้าลงหลายเท่าและแก้ต่อยาก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เรียงลำดับ แก้ไขได้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คิวออเดอร์วันนี้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822960" y="2679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เรียงลำดับ แก้ไม่ได้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พิกัดท่าเรือ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82296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คู่คีย์–ค่า เปิดหาทันที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เมนูกับราคา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822960" y="4416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453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สมาชิกไม่ซ้ำ ไม่มีลำดับ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453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วัตถุดิบที่หมด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822960" y="5285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321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เพิ่ม–ลบหัวท้ายเร็ว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5321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ใช้กับ: คิวลูกค้าหน้าเรือ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ชามที่ซ้อนไว้ กับ แถวที่ต่อคิว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Stack = เข้าทีหลังออกก่อน (LIFO) · Queue = เข้าก่อนออกก่อน (FIFO)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STACK — ชามซ้อน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5D8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1188720" y="2441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C (เข้าล่าสุด)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2626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118872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7490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2626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1188720" y="3813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ชาม A (เข้าแรกสุด)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หยิบออกได้เฉพาะใบบนสุด → ปุ่ม Undo ใช้หลักการนี้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QUEUE — แถวหน้าเรือ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653796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ตะวัน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781812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ยายนวล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909828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378440" y="25146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1037844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 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ออกทางนี้  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⟵  ต่อแถวทางนี้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line.popleft() ทำงาน O(1)  ส่วน list.pop(0) ต้องเลื่อนทุกคน O(n)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หาสมาชิก 1 ล้านคน: 1,000,000 ก้าว หรือ 20 ก้าว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เปลี่ยนแค่อัลกอริทึม ไม่ต้องเปลี่ยนเครื่องคอมพิวเตอร์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Linear Search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ไล่ดูทีละคนตั้งแต่ต้นแถว ใช้ได้กับข้อมูลทุกแบบ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1,000,000 ครั้ง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Binary Search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ตัดทิ้งครึ่งหนึ่งทุกรอบ แต่ข้อมูลต้องเรียงมาก่อน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 ครั้ง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4315968"/>
            <a:ext cx="1078992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85800" y="4636008"/>
            <a:ext cx="539496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85800" y="4956048"/>
            <a:ext cx="2697480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85800" y="5276088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85800" y="5596128"/>
            <a:ext cx="676656" cy="256032"/>
          </a:xfrm>
          <a:prstGeom prst="roundRect">
            <a:avLst>
              <a:gd name="adj" fmla="val 17857"/>
            </a:avLst>
          </a:prstGeom>
          <a:solidFill>
            <a:srgbClr val="FFC8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685800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🎯 เกมในคาบ: อาจารย์คิดเลข 1–1,000 ใครทายเจอด้วยจำนวนครั้งน้อยที่สุด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เรียงเมนูขายดี: เขียนเองเพื่อเข้าใจ ใช้ของจริงเพื่อทำงาน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Bubble Sort สอนความคิด · sorted() ทำงานจริงด้วย Timsort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❌ Bubble Sort กับข้อมูลแสนรายการ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range(n-1):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range(n-1-i):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data[j] &gt; data[j+1]: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สลับค่า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O(n²)  ≈ หนึ่งหมื่นล้านรอบ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✅ sorted() ของไพธอน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 sorted(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best_seller.items(),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key=lambda x: x[1],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reverse=True)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 log n)  ≈ หนึ่งล้านเจ็ดแสนรอบ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86868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แต่ต้องเขียน Bubble Sort เองอย่างน้อยหนึ่งครั้ง ไม่อย่างนั้นจะดูไม่ออกว่าโค้ดที่ AI เสนอมาช้าตรงไหน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Big-O: ภาษากลางของคำว่า “ช้า” และ “เร็ว”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จำนวนรอบโดยประมาณเมื่อข้อมูลมี 1,000 รายการ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คงที่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892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เปิดราคาจาก dict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22960" y="2724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ลอการิทึม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24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≈ 10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Binary Search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822960" y="3575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593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เชิงเส้น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593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ลูปหนึ่งชั้น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822960" y="44256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443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เชิงเส้นคูณลอก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425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≈ 10,000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sorted()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 txBox="1"/>
          <p:nvPr/>
        </p:nvSpPr>
        <p:spPr>
          <a:xfrm>
            <a:off x="822960" y="5276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52943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กำลังสอง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5276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1,000,000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ลูปซ้อนสองชั้น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กฎง่าย ๆ: ลูปซ้อนกันกี่ชั้น ยกกำลังนั้น · ตัดข้อมูลครึ่งหนึ่งทุกรอบคือ log 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ตารางที่ควรจำก่อนขึ้นบทถัดไป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คำสั่งหน้าตาคล้ายกัน แต่ราคาไม่เท่ากัน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data[i]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56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 txBox="1"/>
          <p:nvPr/>
        </p:nvSpPr>
        <p:spPr>
          <a:xfrm>
            <a:off x="649224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data.append(x)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1956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77724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data.insert(0, x)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276148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 txBox="1"/>
          <p:nvPr/>
        </p:nvSpPr>
        <p:spPr>
          <a:xfrm>
            <a:off x="649224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data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9809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O(n)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 txBox="1"/>
          <p:nvPr/>
        </p:nvSpPr>
        <p:spPr>
          <a:xfrm>
            <a:off x="77724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005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dict / set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263640" y="378561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 txBox="1"/>
          <p:nvPr/>
        </p:nvSpPr>
        <p:spPr>
          <a:xfrm>
            <a:off x="649224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data.popleft()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005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deque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O(1)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 txBox="1"/>
          <p:nvPr/>
        </p:nvSpPr>
        <p:spPr>
          <a:xfrm>
            <a:off x="777240" y="5010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sorted(data)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5029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list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4992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O(n log n)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263640" y="5138928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 txBox="1"/>
          <p:nvPr/>
        </p:nvSpPr>
        <p:spPr>
          <a:xfrm>
            <a:off x="6537960" y="53218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💡 เปลี่ยน list เป็น dict ตอนค้นหา คือการเพิ่มความเร็วที่ถูกที่สุด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AI แบบไม่ให้สมองฝ่อ: 5 ขั้น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มือมาก่อน AI เสมอ · AI คือผู้ตรวจและผู้อธิบาย ไม่ใช่ผู้ผลิตคำตอบ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98448" y="2011680"/>
            <a:ext cx="566928" cy="56692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12984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คิด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เขียนรหัสเทียมด้วยลายมือ ปิดจอ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6352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 txBox="1"/>
          <p:nvPr/>
        </p:nvSpPr>
        <p:spPr>
          <a:xfrm>
            <a:off x="35661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ถาม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ให้อธิบาย ห้ามขอโค้ดเต็ม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84064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833872" y="201168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583387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ไล่ทีละบรรทัดบน Python Tutor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95744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51776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8101584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 txBox="1"/>
          <p:nvPr/>
        </p:nvSpPr>
        <p:spPr>
          <a:xfrm>
            <a:off x="810158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ปกติ / ว่าง / กรณีขอบ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19488" y="178308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10369296" y="2011680"/>
            <a:ext cx="566928" cy="5669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 txBox="1"/>
          <p:nvPr/>
        </p:nvSpPr>
        <p:spPr>
          <a:xfrm>
            <a:off x="103692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21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74320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บันทึก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15468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กรอก AI Log แนบท้ายงาน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 txBox="1"/>
          <p:nvPr/>
        </p:nvSpPr>
        <p:spPr>
          <a:xfrm>
            <a:off x="868680" y="45720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ตัวอย่างข้อความสั่งที่ใช้ได้จริง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“นี่คือรหัสเทียมที่ฉันเขียนเอง ชี้เฉพาะจุดที่ตรรกะผิด อธิบายเป็นคำถามกลับมาให้ฉันคิดต่อ ห้ามเขียนโค้ดไพธอนให้”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C85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 และภารกิจของคาบปฏิบัติการ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 txBox="1"/>
          <p:nvPr/>
        </p:nvSpPr>
        <p:spPr>
          <a:xfrm>
            <a:off x="82296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5D8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⚖️ กติกาการใช้ AI ในรายวิชานี้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ใช้ได้: อธิบายแนวคิด จับบั๊ก ออกแบบกรณีทดสอบ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ใช้ไม่ได้: ส่งโค้ดที่ตัวเองอธิบายไม่ได้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ทุกชิ้นงานต้องแนบ AI Log และลายมือชื่อรับรอง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ตรวจชื่อไลบรารีทุกครั้ง AI แต่งชื่อแพ็กเกจที่ไม่มีจริงได้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อาจารย์สุ่มเรียกอธิบายโค้ดปากเปล่า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262637"/>
          </a:solidFill>
          <a:ln w="12700">
            <a:solidFill>
              <a:srgbClr val="26263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649224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C9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🎯 ใบงานที่ 3: NoodleOps 2099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 1 ภารกิจ: คิดเงิน / คิวหน้าเรือ / กระดานขายดี / บัตรสมาชิก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 นาทีแรกเขียนรหัสเทียมด้วยลายมือ ห้ามเปิด AI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Prompt Lab 3 รอบ ต้องปฏิเสธข้อเสนอ AI อย่างน้อย 1 ครั้ง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ปิดท้ายด้วย Micro-Pitch 90 วินาที แล้วโหวตโค้ดที่อธิบายได้ดีที่สุด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A9B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บทหน้า: อ่านเขียนไฟล์ข้อมูล และจัดการข้อผิดพลาดด้วย try / except — ต่อยอดจากฟังก์ชันจัดคิวที่เขียนวันนี้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1409</Words>
  <Application>Microsoft Macintosh PowerPoint</Application>
  <PresentationFormat>Custom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เขมวิทย์ จิตตะยโศธร</cp:lastModifiedBy>
  <cp:revision>2</cp:revision>
  <dcterms:created xsi:type="dcterms:W3CDTF">2026-09-19T05:38:46Z</dcterms:created>
  <dcterms:modified xsi:type="dcterms:W3CDTF">2026-09-19T07:10:15Z</dcterms:modified>
</cp:coreProperties>
</file>