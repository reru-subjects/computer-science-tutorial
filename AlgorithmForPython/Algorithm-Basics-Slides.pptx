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เปิดคาบด้วยการถามว่า ใครเคยสอนคนอื่นทำอาหารแล้วเขาทำออกมาไม่เหมือนที่เราคิดบ้าง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กิจกรรมคู่: ให้เขียนขั้นตอนชงมาม่า แล้วให้เพื่อนทำตามแบบหุ่นยนต์ตามตัวอักษร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ย้ำว่าข้อสอบมีส่วนเขียนรหัสเทียมด้วยลายมือ และบทหน้าคือโครงสร้างข้อมูลกับ Big-O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26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2E23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บทที่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ขั้นตอนวิธี (Algorithm)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A00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คิดให้เป็นขั้นตอน ก่อนจะเขียนโปรแกรมเป็น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A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Thinking for Absolute Beginners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6217920" cy="914400"/>
          </a:xfrm>
          <a:prstGeom prst="roundRect">
            <a:avLst>
              <a:gd name="adj" fmla="val 10000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6817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E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คณะเทคโนโลยีสารสนเทศ มหาวิทยาลัยราชภัฏร้อยเอ็ด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CE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อาจารย์ ดร.เขมวิทย์ จิตตะยโศธร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คาบนี้เราจะฝึกอะไร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สามทักษะ ที่ใช้ได้กับทุกภาษาโปรแกรมตลอดชีวิตการทำงาน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คิด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แตกปัญหาเป็นขั้นตอนที่ชัดเจนจนหุ่นยนต์ทำตามได้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57400"/>
            <a:ext cx="548640" cy="5486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34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ถ่ายทอดขั้นตอนออกมาเป็นรหัสเทียมและผังงาน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057400"/>
            <a:ext cx="548640" cy="548640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พิสูจน์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34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ไล่ค่าตัวแปรด้วยมือ เพื่อยืนยันว่าถูกก่อนจะรัน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คำเตือนสำคัญ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ครึ่งแรกของคาบนี้ใช้กระดาษกับดินสอเท่านั้น ถ้าเขียนขั้นตอนบนกระดาษไม่ได้ จะเขียนโปรแกรมไม่ได้เช่นกัน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วันที่ยายนวลสั่งงานหุ่นยนต์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คอมพิวเตอร์ไม่ได้โง่ แต่มันทำเฉพาะสิ่งที่ถูกสั่งชัดเจนเท่านั้น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คำสั่งที่หุ่นยนต์ทำพัง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“ทำก๋วยเตี๋ยวให้หน่อย” → หุ่นยนต์ยืนนิ่ง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“ลวกเส้นแล้วใส่ชาม” → จุ่มน้ำเย็นทั้งถุง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“ใส่น้ำปลาพอประมาณ” → เทลงครึ่งขวด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“คนให้เข้ากัน” → คนไม่หยุดจนน้ำแห้ง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E7F5F1"/>
          </a:solidFill>
          <a:ln w="12700">
            <a:solidFill>
              <a:srgbClr val="E7F5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คำสั่งที่หุ่นยนต์ทำได้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“ตักเส้น 1 ก้อนใส่ตะแกรง”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“จุ่มตะแกรงในน้ำเดือด 45 วินาที”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“ใส่น้ำปลา 1 ช้อนชา”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“คน 20 รอบแล้วยกขึ้น”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ความฉลาดไม่ได้อยู่ที่เครื่อง แต่อยู่ที่คนออกแบบขั้นตอน — นี่คือสิ่งที่เราจะฝึกกันทั้งเทอม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ขั้นตอนวิธีคืออะไร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ลำดับคำสั่งที่ชัดเจนและมีจำนวนจำกัด ซึ่งเปลี่ยนข้อมูลเข้าให้เป็นผลลัพธ์ที่ต้องการ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E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ข้อมูลเข้า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เรามีอะไรอยู่ในมือ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เมนูที่ลูกค้าสั่ง + ตารางราคา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ประมวลผล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ต้องทำอะไรกับมัน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3520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เปิดราคาแล้วบวกสะสม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27848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F5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ข้อมูลออก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อยากเห็นอะไร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0" y="3520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ยอดเงินที่ต้องเก็บ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ถามสามคำถามนี้ก่อนลงมือทุกครั้ง แล้วปัญหาที่ดูยากจะเล็กลงทันที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ขั้นตอนวิธีที่ใช้ได้จริงต้องมี 5 อย่าง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เกณฑ์ของ Donald E. Knuth · ใช้ตรวจงานตัวเองก่อนส่งทุกครั้ง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จำกัด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ต้องจบได้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ไม่วนไม่รู้จบ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62072" y="178308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011680"/>
            <a:ext cx="548640" cy="5486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ชัดเจน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ตีความได้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แบบเดียว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9784" y="178308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2011680"/>
            <a:ext cx="548640" cy="5486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702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มีข้อมูลเข้า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รู้ว่าต้องใช้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อะไรบ้าง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97496" y="178308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2011680"/>
            <a:ext cx="548640" cy="5486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7473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มีข้อมูลออก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ได้ผลลัพธ์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อย่างน้อย 1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65208" y="178308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42448" y="2011680"/>
            <a:ext cx="548640" cy="548640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4244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56648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ทำได้จริง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756648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ไม่ใช่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ให้เดาใจคน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94360" y="452628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ลองวัดคำสั่งนี้ดู: “ลวกเส้นให้สุกกำลังดี”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19379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ผิดข้อ “ชัดเจน” เพราะคำว่ากำลังดี แต่ละคนตีความไม่ตรงกัน  →  แก้เป็น “จุ่มเส้นในน้ำเดือด 45 วินาที”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เขียนขั้นตอนวิธีได้ 3 รูปแบบ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เรื่องเดียวกัน เขียนต่างแบบเพื่อใช้ต่างสถานการณ์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38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ภาษาพูดเป็นขั้น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96112" y="2468880"/>
            <a:ext cx="2880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6060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ต้มน้ำ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ลวกเส้น 45 วินาที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ใส่ชาม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อธิบายให้คนทั่วไปฟัง หรือคิดร่างแรก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938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รหัสเทียม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690872" y="2468880"/>
            <a:ext cx="2880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6060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กำหนด total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สำหรับ price ใน รายการ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price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ส่งต่อให้เพื่อนเขียนโค้ด ใช้ได้ทุกภาษา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5632" y="1938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ผังงาน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485632" y="2468880"/>
            <a:ext cx="2880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1080" y="26060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รูปสัญลักษณ์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เชื่อมด้วยลูกศร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มองเห็นทางแยกและการวนซ้ำทั้งภาพ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รายวิชานี้ใช้คำสงวนชุดเดียวกันทั้งห้อง: รับ / กำหนด / ถ้า–มิฉะนั้น / สำหรับ / ตราบใดที่ / แสดง / คืนค่า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สัญลักษณ์ผังงานที่ต้องจำ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จำแค่ 4 รูป ก็เขียนผังงานของโปรแกรมใดก็ได้</a:t>
            </a:r>
            <a:endParaRPr lang="en-US" sz="1900" dirty="0"/>
          </a:p>
        </p:txBody>
      </p:sp>
      <p:pic>
        <p:nvPicPr>
          <p:cNvPr id="4" name="Image 0" descr="/home/claude/algo/img/flow-symb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9966960" cy="3575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48640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71600" y="55961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ข้อผิดพลาดที่เจอบ่อย: ใช้สี่เหลี่ยมผืนผ้าแทนการตัดสินใจ ทำให้มองไม่ออกว่าตรงไหนคือทางแยก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ทุกโปรแกรมในโลกสร้างจาก 3 รูปแบบนี้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Böhm และ Jacopini พิสูจน์ไว้ตั้งแต่ ค.ศ. 1966 · ข่าวดีคือเรามีสิ่งที่ต้องจำแค่สามอย่าง</a:t>
            </a:r>
            <a:endParaRPr lang="en-US" sz="1900" dirty="0"/>
          </a:p>
        </p:txBody>
      </p:sp>
      <p:pic>
        <p:nvPicPr>
          <p:cNvPr id="4" name="Image 0" descr="/home/claude/algo/img/flow-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45920"/>
            <a:ext cx="9326880" cy="42611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ลำดับ = ทำทีละขั้น · การเลือก = แยกทางตามเงื่อนไข · การทำซ้ำ = วนกลับไปถามเงื่อนไขเดิม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ตารางไล่ค่า: ทำตัวเป็นคอมพิวเตอร์เสียเอง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จดค่าตัวแปรทุกรอบ ห้ามคิดในใจข้ามขั้น — นี่คือวิธีหาบั๊กที่เร็วที่สุดโดยไม่ต้องรันโปรแกรม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ขั้นตอนวิธีที่จะไล่ค่า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กำหนด total = 0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สำหรับ price ใน [45, 50, 55]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total = total + price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แสดง total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737360"/>
          <a:ext cx="5852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รอบ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price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total ก่อน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total หลัง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เริ่ม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50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95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3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150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25196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E7F5F1"/>
          </a:solidFill>
          <a:ln w="12700">
            <a:solidFill>
              <a:srgbClr val="E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ทักษะนี้แยกคนที่ “เข้าใจจริง” ออกจากคนที่ “เดาว่าน่าจะได้”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วิธีทำ: ตีตารางให้มีคอลัมน์เท่ากับจำนวนตัวแปร บวกอีกหนึ่งคอลัมน์สำหรับผลการตรวจเงื่อนไข แล้วเดินทีละบรรทัด เขียนค่าที่เปลี่ยนลงไปทีละแถว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ตัวแปรสะสม: ท่าไม้ตายที่ใช้ได้ทั้งชีวิต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รวมยอดบิล นับจำนวน หาค่าเฉลี่ย ล้วนใช้โครงเดียวกันนี้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E7F5F1"/>
          </a:solidFill>
          <a:ln w="12700">
            <a:solidFill>
              <a:srgbClr val="E7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ถูก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           ← ตั้งต้นนอกลูป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price in prices: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price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38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ผิดที่เจอบ่อยที่สุด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price in prices: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        ← ล้างค่าทุกรอบ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price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อาการที่ผู้ใช้เห็น: ยอดรวมกลายเป็นราคาของรายการสุดท้ายเพียงตัวเดียว — ไล่ค่าสองรอบแรกก็เจอทันที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หาค่ามากที่สุด: สมมติให้ตัวแรกเป็นแชมป์ไว้ก่อน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ขั้นตอนวิธีที่ใช้บ่อยที่สุดในงานจริง และเป็นฐานของการเรียงลำดับ</a:t>
            </a:r>
            <a:endParaRPr lang="en-US" sz="1900" dirty="0"/>
          </a:p>
        </p:txBody>
      </p:sp>
      <p:pic>
        <p:nvPicPr>
          <p:cNvPr id="4" name="Image 0" descr="/home/claude/algo/img/flow-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2062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1737360"/>
            <a:ext cx="6126480" cy="2103120"/>
          </a:xfrm>
          <a:prstGeom prst="roundRect">
            <a:avLst>
              <a:gd name="adj" fmla="val 4348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77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รหัสเทียม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286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best = สมาชิกตัวแรก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สำหรับ value ใน รายการที่เหลือ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ถ้า value มากกว่า best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   best = value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แสดง best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94960" y="4023360"/>
            <a:ext cx="6126480" cy="1828800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41605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กับดัก: ตั้งต้นด้วย best = 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46177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ถ้าข้อมูลติดลบทั้งหมด เช่น อุณหภูมิหรือผลขาดทุน จะไม่มีตัวใดมากกว่า 0 เลย โปรแกรมจึงตอบ 0 ซึ่งไม่มีอยู่จริงในข้อมูล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แปลงเป็นไพธอน บรรทัดต่อบรรทัด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ถ้ารหัสเทียมถูก การแปลงเป็นโค้ดคือขั้นที่ง่ายที่สุดของงานทั้งหมด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 จำนวนชาม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847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856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bowls = int(input())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78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 total = 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578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2587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310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 paid มากกว่าหรือเท่ากับ total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310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320040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3319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paid &gt;= total: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 price แต่ละตัวใน prices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041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393192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4050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price in prices: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7731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ตราบใดที่ i น้อยกว่า 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4773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4782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n: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530352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504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 total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5504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92240" y="539496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20840" y="5513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อย่าลืม: ไพธอนใช้การย่อหน้า 4 ช่องว่างแทนวงเล็บปีกกา และปิดท้ายบรรทัดเงื่อนไขด้วยเครื่องหมาย :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บั๊กยอดฮิตของมือใหม่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จำอาการไว้ แล้วจะหาสาเหตุได้ภายในหนึ่งนาที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ผลรวมเหลือตัวสุดท้ายตัวเดียว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31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ตั้งตัวแปรสะสมไว้ในลูป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นับเกินหรือขาดไป 1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31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ขอบเขตลูปคลาดไปหนึ่ง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โปรแกรมค้างไม่ยอมจบ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ลืมเปลี่ยนค่าที่คุมลูป while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91840"/>
            <a:ext cx="502920" cy="50292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เงื่อนไขดูถูกแต่ทำงานผิด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ใช้ = แทน == หรือสลับ &gt; กับ &gt;=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EDEF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389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พิมพ์ข้อความซ้ำทุกรอบ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คำสั่งแสดงผลอยู่ในลูป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42519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526280"/>
            <a:ext cx="502920" cy="50292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389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ลำดับงานเพี้ยนทั้งโปรแกรม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สาเหตุ: ย่อหน้าผิดระดับ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ทุกข้อข้างบนตรวจเจอได้ด้วยตารางไล่ค่า โดยไม่ต้องรันโปรแกรมแม้แต่ครั้งเดียว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AI เป็นครูฝึก ไม่ใช่ผู้ทำแทน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A5F7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วิชานี้สอนการคิดเป็นขั้นตอน ถ้าให้ AI คิดแทน สิ่งที่หายไปคือตัวเนื้อหาของวิชาเอง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E7F5F1"/>
          </a:solidFill>
          <a:ln w="12700">
            <a:solidFill>
              <a:srgbClr val="E7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F7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ทำได้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ขอให้ออกโจทย์ฝึกเพิ่ม โดยห้ามเฉลย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ส่งตารางไล่ค่าที่ทำเองไปให้ตรวจว่าแถวไหนผิด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ขอให้อธิบายแนวคิดที่ยังไม่เข้าใจ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ขอให้สร้างโค้ดมีบั๊กไว้ให้เราฝึกหา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38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5D6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ทำไม่ได้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ขอให้เขียนรหัสเทียมของการบ้านให้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ขอให้ไล่ค่าตารางให้ตั้งแต่ต้น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ขอให้แก้โค้ดให้รันผ่านโดยเราไม่ต้องอ่าน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ขอคำตอบของบั๊กทันทีโดยไม่หาเอง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B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ทุกชิ้นงานต้องแนบ AI Log และลายมือชื่อรับรองว่าอธิบายงานของตนเองได้ทุกบรรทัด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ใบงานที่ 1: โรงงานขั้นตอนวิธี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120 นาที · ครึ่งแรกใช้กระดาษกับดินสอเท่านั้น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48840"/>
            <a:ext cx="566928" cy="566928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หุ่นยนต์ชงมาม่า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 นาที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48840"/>
            <a:ext cx="566928" cy="566928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รหัสเทียม + ผังงาน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 นาที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148840"/>
            <a:ext cx="566928" cy="5669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8563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ตารางไล่ค่า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 นาที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657600"/>
            <a:ext cx="566928" cy="56692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แปลงเป็นไพธอน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 นาที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34840" y="33375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3657600"/>
            <a:ext cx="566928" cy="566928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90872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เป็นครูฝึก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 นาที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29600" y="33375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657600"/>
            <a:ext cx="566928" cy="566928"/>
          </a:xfrm>
          <a:prstGeom prst="ellipse">
            <a:avLst/>
          </a:prstGeom>
          <a:solidFill>
            <a:srgbClr val="EF5D60"/>
          </a:solidFill>
          <a:ln w="12700">
            <a:solidFill>
              <a:srgbClr val="EF5D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85632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แลกตรวจและส่งงาน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EC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 นาที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26264F"/>
          </a:solidFill>
          <a:ln w="12700">
            <a:solidFill>
              <a:srgbClr val="2626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1389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00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สิ่งที่ต้องส่งก่อนออกจากห้อง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E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ภาพถ่ายรหัสเทียม ผังงาน และตารางไล่ค่าที่เขียนด้วยลายมือ · ไฟล์ .py ที่รันผ่าน · ใบงานที่กรอกครบพร้อม AI Log · ภาพหน้าจอจาก Python Tutor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2026-09-19T07:20:18Z</dcterms:created>
  <dcterms:modified xsi:type="dcterms:W3CDTF">2026-09-19T07:20:18Z</dcterms:modified>
</cp:coreProperties>
</file>